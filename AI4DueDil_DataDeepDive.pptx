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Nb. exigences</c:v>
                </c:pt>
              </c:strCache>
            </c:strRef>
          </c:tx>
          <c:spPr>
            <a:solidFill>
              <a:srgbClr val="0000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00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54F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172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Compliant</c:v>
                  </c:pt>
                  <c:pt idx="1">
                    <c:v>Partiellement
compliant</c:v>
                  </c:pt>
                  <c:pt idx="2">
                    <c:v>Non
compliant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</c:v>
                </c:pt>
                <c:pt idx="1">
                  <c:v>290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8F"/>
              </a:solidFill>
              <a:effectLst/>
            </c:spPr>
          </c:dPt>
          <c:dPt>
            <c:idx val="1"/>
            <c:bubble3D val="0"/>
            <c:spPr>
              <a:solidFill>
                <a:srgbClr val="0A74DA"/>
              </a:solidFill>
              <a:effectLst/>
            </c:spPr>
          </c:dPt>
          <c:dPt>
            <c:idx val="2"/>
            <c:bubble3D val="0"/>
            <c:spPr>
              <a:solidFill>
                <a:srgbClr val="0F6E56"/>
              </a:solidFill>
              <a:effectLst/>
            </c:spPr>
          </c:dPt>
          <c:dPt>
            <c:idx val="3"/>
            <c:bubble3D val="0"/>
            <c:spPr>
              <a:solidFill>
                <a:srgbClr val="854F0B"/>
              </a:solidFill>
              <a:effectLst/>
            </c:spPr>
          </c:dPt>
          <c:dPt>
            <c:idx val="4"/>
            <c:bubble3D val="0"/>
            <c:spPr>
              <a:solidFill>
                <a:srgbClr val="AAAA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PDF (digital)</c:v>
                </c:pt>
                <c:pt idx="1">
                  <c:v>PDF (scanné)</c:v>
                </c:pt>
                <c:pt idx="2">
                  <c:v>Markdown</c:v>
                </c:pt>
                <c:pt idx="3">
                  <c:v>Word (.docx)</c:v>
                </c:pt>
                <c:pt idx="4">
                  <c:v>Autre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48</c:v>
                </c:pt>
                <c:pt idx="1">
                  <c:v>24</c:v>
                </c:pt>
                <c:pt idx="2">
                  <c:v>14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5E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Fichiers</c:v>
                </c:pt>
              </c:strCache>
            </c:strRef>
          </c:tx>
          <c:spPr>
            <a:solidFill>
              <a:srgbClr val="0000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1–3 pages</c:v>
                  </c:pt>
                  <c:pt idx="1">
                    <c:v>4–10 pages</c:v>
                  </c:pt>
                  <c:pt idx="2">
                    <c:v>11–30 pages</c:v>
                  </c:pt>
                  <c:pt idx="3">
                    <c:v>31–80 pages</c:v>
                  </c:pt>
                  <c:pt idx="4">
                    <c:v>&gt; 80 pages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20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Conformité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E56"/>
              </a:solidFill>
              <a:effectLst/>
            </c:spPr>
          </c:dPt>
          <c:dPt>
            <c:idx val="1"/>
            <c:bubble3D val="0"/>
            <c:spPr>
              <a:solidFill>
                <a:srgbClr val="854F0B"/>
              </a:solidFill>
              <a:effectLst/>
            </c:spPr>
          </c:dPt>
          <c:dPt>
            <c:idx val="2"/>
            <c:bubble3D val="0"/>
            <c:spPr>
              <a:solidFill>
                <a:srgbClr val="FF172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Conforme</c:v>
                </c:pt>
                <c:pt idx="1">
                  <c:v>Partiellement
compliant</c:v>
                </c:pt>
                <c:pt idx="2">
                  <c:v>Non conforme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</c:v>
                </c:pt>
                <c:pt idx="1">
                  <c:v>31</c:v>
                </c:pt>
                <c:pt idx="2">
                  <c:v>17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5E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3774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914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Deep Dive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la grille de conformité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du dossier de preuves prestataires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20440" y="2651760"/>
            <a:ext cx="502920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834640"/>
            <a:ext cx="1371600" cy="274320"/>
          </a:xfrm>
          <a:prstGeom prst="rect">
            <a:avLst>
              <a:gd name="adj" fmla="val 16667"/>
            </a:avLst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prestataires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834640"/>
            <a:ext cx="1371600" cy="274320"/>
          </a:xfrm>
          <a:prstGeom prst="rect">
            <a:avLst>
              <a:gd name="adj" fmla="val 1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exigences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2834640"/>
            <a:ext cx="1371600" cy="274320"/>
          </a:xfrm>
          <a:prstGeom prst="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folders analysés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4754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 AXA France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38912" cy="43891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841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périmètre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grille a été construite, sources de données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90472"/>
            <a:ext cx="438912" cy="43891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90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 Excel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7190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complétion, distribution des tags prestataires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8503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57984"/>
            <a:ext cx="438912" cy="43891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1762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preuves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386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documentaire, types de fichiers, mapping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33472"/>
            <a:ext cx="8503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25496"/>
            <a:ext cx="438912" cy="43891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25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843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conformité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0540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par exigence, par prestataire, par domaine SSI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300984"/>
            <a:ext cx="8503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93008"/>
            <a:ext cx="438912" cy="43891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511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Divergences rep. vs expert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721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de labellisation, zones à risque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68496"/>
            <a:ext cx="8503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60520"/>
            <a:ext cx="438912" cy="43891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178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prochaines étapes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389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pour améliorer la qualité des dossiers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636008"/>
            <a:ext cx="8503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périmètre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39319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grille a été construite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344168"/>
            <a:ext cx="256032" cy="256032"/>
          </a:xfrm>
          <a:prstGeom prst="oval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350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Grilles individuelles collectées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grille par prestataire, même template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1892808"/>
            <a:ext cx="256032" cy="256032"/>
          </a:xfrm>
          <a:prstGeom prst="oval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836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des colonnes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07568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des noms de colonnes et de l'encoding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2441448"/>
            <a:ext cx="256032" cy="256032"/>
          </a:xfrm>
          <a:prstGeom prst="oval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4323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colonne Prestataire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62432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par fournisseur ajouté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2990088"/>
            <a:ext cx="256032" cy="256032"/>
          </a:xfrm>
          <a:prstGeom prst="oval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9809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 un seul Excel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17296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Concaténation avec pandas, index reseté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" y="3538728"/>
            <a:ext cx="256032" cy="256032"/>
          </a:xfrm>
          <a:prstGeom prst="oval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295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colonne Feedback Expert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72160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SSI exportées depuis l'outil de review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" y="4087368"/>
            <a:ext cx="256032" cy="256032"/>
          </a:xfrm>
          <a:prstGeom prst="oval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40782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dossier preuves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27024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du proof folder associé à chaque row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868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analysé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280160"/>
            <a:ext cx="192024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280160"/>
            <a:ext cx="45720" cy="123444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1389888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4919472" y="1922069"/>
            <a:ext cx="169164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2243023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dans le scope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1280160"/>
            <a:ext cx="192024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1280160"/>
            <a:ext cx="45720" cy="12344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1389888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022592" y="1922069"/>
            <a:ext cx="169164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/ grille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22592" y="2243023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du référentiel SSI AXA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743200"/>
            <a:ext cx="192024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743200"/>
            <a:ext cx="45720" cy="12344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2852928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4919472" y="3385109"/>
            <a:ext cx="169164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totales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19472" y="3706063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fusion (toutes grilles)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0" y="2743200"/>
            <a:ext cx="192024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0" y="2743200"/>
            <a:ext cx="45720" cy="1234440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852928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7022592" y="3385109"/>
            <a:ext cx="169164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SSI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22592" y="3706063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Certifications, RGPD, Audit…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Qualité des données Excel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5720" cy="11430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remplissage tag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C — Tag Prestataire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777240"/>
            <a:ext cx="45720" cy="1143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60904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renseignés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60904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D — au moins 20 car.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777240"/>
            <a:ext cx="45720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37176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référencées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37176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E — fichier mentionné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777240"/>
            <a:ext cx="45720" cy="1143000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013448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feedback fourni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13448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O — annoté par SSI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tags prestataires (auto-déclaration)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20040" y="2331720"/>
          <a:ext cx="49377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532120" y="2029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principales de données manquantes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32120" y="2377440"/>
            <a:ext cx="3291840" cy="530352"/>
          </a:xfrm>
          <a:prstGeom prst="rect">
            <a:avLst/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24505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309360" y="2496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non uploadées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532120" y="3017520"/>
            <a:ext cx="329184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23560" y="30906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309360" y="3136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vide ou N/A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32120" y="3657600"/>
            <a:ext cx="3291840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2356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309360" y="3776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mentionné inexistant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532120" y="4297680"/>
            <a:ext cx="3291840" cy="530352"/>
          </a:xfrm>
          <a:prstGeom prst="rect">
            <a:avLst/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23560" y="43708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309360" y="4416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version de document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Analyse des dossiers de preuves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5720" cy="11430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moy. / prestataire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1  —  Max: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777240"/>
            <a:ext cx="45720" cy="1143000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60904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multi-documents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60904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fusionnés, 30+ pages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777240"/>
            <a:ext cx="45720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37176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non mappés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37176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exigence associée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777240"/>
            <a:ext cx="199339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777240"/>
            <a:ext cx="45720" cy="11430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886968"/>
            <a:ext cx="17647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013448" y="13716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détectés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13448" y="166878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contenu, noms diff.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fichiers soumis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91440" y="2331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160520" y="2029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du nb. de pages par fichier</a:t>
            </a:r>
            <a:endParaRPr lang="en-US" sz="11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023360" y="2331720"/>
          <a:ext cx="48006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 de conformité globaux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IA — toutes exigences, tous prestataires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" y="109728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777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conformité par domaine SSI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0" y="1188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(ISO 27001, SOC 2)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2011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463040"/>
            <a:ext cx="2710282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9872" y="1463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0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protection des données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121408"/>
            <a:ext cx="3474720" cy="2011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121408"/>
            <a:ext cx="2258568" cy="201168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2121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0" y="2505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vulnérabilités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2779776"/>
            <a:ext cx="3474720" cy="2011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779776"/>
            <a:ext cx="2015338" cy="201168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9872" y="27797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0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d'activité (PCA)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3438144"/>
            <a:ext cx="3474720" cy="2011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3438144"/>
            <a:ext cx="1424635" cy="20116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19872" y="3438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0" y="3822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&amp; transparence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4096512"/>
            <a:ext cx="3474720" cy="2011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4096512"/>
            <a:ext cx="1911096" cy="201168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19872" y="40965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0" y="4480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Contractuel (chartes, clauses)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0" y="4754880"/>
            <a:ext cx="3474720" cy="2011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0" y="4754880"/>
            <a:ext cx="1667866" cy="20116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19872" y="47548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Conformité par prestataire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par prestataire — % d'exigences conformes (IA verdict)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81528" y="1115568"/>
            <a:ext cx="109728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1115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Conforme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97096" y="1115568"/>
            <a:ext cx="100584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Partiel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21224" y="1115568"/>
            <a:ext cx="100584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Non conf.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45352" y="1115568"/>
            <a:ext cx="73152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1115568"/>
            <a:ext cx="109728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115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417320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4538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TECHSOL GROUP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81528" y="1499616"/>
            <a:ext cx="784555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14538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60520" y="14538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38928" y="14538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17336" y="14538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21424" y="1481328"/>
            <a:ext cx="1051560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4813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1755648"/>
            <a:ext cx="8503920" cy="310896"/>
          </a:xfrm>
          <a:prstGeom prst="rect">
            <a:avLst/>
          </a:prstGeom>
          <a:solidFill>
            <a:srgbClr val="F4F4F4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7922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CLOUDSEC SAS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81528" y="1837944"/>
            <a:ext cx="623621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81528" y="17922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60520" y="17922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38928" y="17922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17336" y="17922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21424" y="1819656"/>
            <a:ext cx="1051560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1819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2093976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1305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DATABRIDGE CORP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81528" y="2176272"/>
            <a:ext cx="553212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1528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60520" y="213055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38928" y="213055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17336" y="21305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21424" y="2157984"/>
            <a:ext cx="1051560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21579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2432304"/>
            <a:ext cx="8503920" cy="310896"/>
          </a:xfrm>
          <a:prstGeom prst="rect">
            <a:avLst/>
          </a:prstGeom>
          <a:solidFill>
            <a:srgbClr val="F4F4F4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4688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INFOGUARD SA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81528" y="2514600"/>
            <a:ext cx="854964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815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60520" y="24688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38928" y="24688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17336" y="24688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21424" y="2496312"/>
            <a:ext cx="1051560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1424" y="24963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2770632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28072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NETOPS FRANCE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081528" y="2852928"/>
            <a:ext cx="442570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81528" y="2807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60520" y="2807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38928" y="2807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17336" y="28072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21424" y="2834640"/>
            <a:ext cx="1051560" cy="18288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21424" y="2834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0040" y="3108960"/>
            <a:ext cx="8503920" cy="310896"/>
          </a:xfrm>
          <a:prstGeom prst="rect">
            <a:avLst/>
          </a:prstGeom>
          <a:solidFill>
            <a:srgbClr val="F4F4F4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145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CYBERTECH EU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081528" y="3191256"/>
            <a:ext cx="714146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81528" y="3145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60520" y="31455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38928" y="31455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17336" y="31455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21424" y="3172968"/>
            <a:ext cx="1051560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21424" y="31729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20040" y="3447288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34838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 GROUP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081528" y="3529584"/>
            <a:ext cx="392278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81528" y="3483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160520" y="34838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138928" y="34838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17336" y="34838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21424" y="3511296"/>
            <a:ext cx="1051560" cy="18288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21424" y="35112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3785616"/>
            <a:ext cx="8503920" cy="310896"/>
          </a:xfrm>
          <a:prstGeom prst="rect">
            <a:avLst/>
          </a:prstGeom>
          <a:solidFill>
            <a:srgbClr val="F4F4F4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38221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ALPHALINK SAS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081528" y="3867912"/>
            <a:ext cx="673913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81528" y="3822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160520" y="3822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138928" y="3822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117336" y="38221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821424" y="3849624"/>
            <a:ext cx="1051560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21424" y="38496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20040" y="4123944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1605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BETASERVICES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081528" y="4206240"/>
            <a:ext cx="834847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81528" y="4160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160520" y="4160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138928" y="4160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117336" y="41605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821424" y="4187952"/>
            <a:ext cx="1051560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21424" y="41879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20040" y="4462272"/>
            <a:ext cx="8503920" cy="310896"/>
          </a:xfrm>
          <a:prstGeom prst="rect">
            <a:avLst/>
          </a:prstGeom>
          <a:solidFill>
            <a:srgbClr val="F4F4F4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IT CONSEIL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081528" y="4544568"/>
            <a:ext cx="512978" cy="14630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81528" y="4498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60520" y="44988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5138928" y="44988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117336" y="44988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821424" y="4526280"/>
            <a:ext cx="1051560" cy="18288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21424" y="45262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Divergences représentant vs expert SSI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divergence (auto-déclaration vs verdict expert)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54480" cy="502920"/>
          </a:xfrm>
          <a:prstGeom prst="rect">
            <a:avLst/>
          </a:prstGeom>
          <a:solidFill>
            <a:srgbClr val="00008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1430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Expert 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01952" y="1143000"/>
            <a:ext cx="1508760" cy="502920"/>
          </a:xfrm>
          <a:prstGeom prst="rect">
            <a:avLst/>
          </a:prstGeom>
          <a:solidFill>
            <a:srgbClr val="00008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14300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38144" y="1143000"/>
            <a:ext cx="1508760" cy="502920"/>
          </a:xfrm>
          <a:prstGeom prst="rect">
            <a:avLst/>
          </a:prstGeom>
          <a:solidFill>
            <a:srgbClr val="00008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14300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74336" y="1143000"/>
            <a:ext cx="1508760" cy="502920"/>
          </a:xfrm>
          <a:prstGeom prst="rect">
            <a:avLst/>
          </a:prstGeom>
          <a:solidFill>
            <a:srgbClr val="00008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4300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conf.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673352"/>
            <a:ext cx="1554480" cy="8229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673352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01952" y="1673352"/>
            <a:ext cx="1508760" cy="822960"/>
          </a:xfrm>
          <a:prstGeom prst="rect">
            <a:avLst/>
          </a:prstGeom>
          <a:solidFill>
            <a:srgbClr val="EAF3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16733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 (74%)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38144" y="1673352"/>
            <a:ext cx="1508760" cy="822960"/>
          </a:xfrm>
          <a:prstGeom prst="rect">
            <a:avLst/>
          </a:prstGeom>
          <a:solidFill>
            <a:srgbClr val="FAEED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16733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(18%)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74336" y="1673352"/>
            <a:ext cx="1508760" cy="822960"/>
          </a:xfrm>
          <a:prstGeom prst="rect">
            <a:avLst/>
          </a:prstGeom>
          <a:solidFill>
            <a:srgbClr val="FCEBE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6733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(8%)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1554480" cy="8229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2523744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01952" y="2523744"/>
            <a:ext cx="1508760" cy="822960"/>
          </a:xfrm>
          <a:prstGeom prst="rect">
            <a:avLst/>
          </a:prstGeom>
          <a:solidFill>
            <a:srgbClr val="FAEED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523744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(39%)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38144" y="2523744"/>
            <a:ext cx="1508760" cy="822960"/>
          </a:xfrm>
          <a:prstGeom prst="rect">
            <a:avLst/>
          </a:prstGeom>
          <a:solidFill>
            <a:srgbClr val="EAF3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523744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(50%)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74336" y="2523744"/>
            <a:ext cx="1508760" cy="822960"/>
          </a:xfrm>
          <a:prstGeom prst="rect">
            <a:avLst/>
          </a:prstGeom>
          <a:solidFill>
            <a:srgbClr val="FAEED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523744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(11%)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374136"/>
            <a:ext cx="1554480" cy="8229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37413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conf.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01952" y="3374136"/>
            <a:ext cx="1508760" cy="822960"/>
          </a:xfrm>
          <a:prstGeom prst="rect">
            <a:avLst/>
          </a:prstGeom>
          <a:solidFill>
            <a:srgbClr val="FCEBE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6816" y="3374136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(20%)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38144" y="3374136"/>
            <a:ext cx="1508760" cy="822960"/>
          </a:xfrm>
          <a:prstGeom prst="rect">
            <a:avLst/>
          </a:prstGeom>
          <a:solidFill>
            <a:srgbClr val="FAEED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74136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(42%)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74336" y="3374136"/>
            <a:ext cx="1508760" cy="822960"/>
          </a:xfrm>
          <a:prstGeom prst="rect">
            <a:avLst/>
          </a:prstGeom>
          <a:solidFill>
            <a:srgbClr val="EAF3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374136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(38%)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224528"/>
            <a:ext cx="621792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AABB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2452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ligne = déclaration du représentant  |  colonne = verdict expert SSI  |  cases hors diagonale = divergences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777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1170432"/>
            <a:ext cx="20574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F17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1170432"/>
            <a:ext cx="54864" cy="74980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cas critiques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94576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 conforme → Expert non conforme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2084832"/>
            <a:ext cx="20574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854F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2084832"/>
            <a:ext cx="54864" cy="7498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94576" y="2157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sur-déclarations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94576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→ Expert partiel (plus fréquent)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2999232"/>
            <a:ext cx="20574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66560" y="2999232"/>
            <a:ext cx="54864" cy="7498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pondéré = 0.61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94576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global modéré à bon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66560" y="3913632"/>
            <a:ext cx="20574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66560" y="3913632"/>
            <a:ext cx="54864" cy="749808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0.63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94576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détection multi-classes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384048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560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Insights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5486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914400"/>
            <a:ext cx="1371600" cy="274320"/>
          </a:xfrm>
          <a:prstGeom prst="rect">
            <a:avLst>
              <a:gd name="adj" fmla="val 16667"/>
            </a:avLst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2435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 mapping preuve → exigence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82496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des lignes n'ont pas de fichier de preuve explicitement nommé. Exiger un nommage standardisé (ex: ISO27001_cert.pdf) dans le template de collecte.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7432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914400"/>
            <a:ext cx="1371600" cy="274320"/>
          </a:xfrm>
          <a:prstGeom prst="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dossier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12435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PDFs blobs fusionnés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682496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des dossiers contiennent des PDF multi-documents. Demander des fichiers séparés ou au minimum un sommaire de page par document inclus.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7432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04672"/>
            <a:ext cx="2743200" cy="54864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914400"/>
            <a:ext cx="1371600" cy="274320"/>
          </a:xfrm>
          <a:prstGeom prst="rect">
            <a:avLst>
              <a:gd name="adj" fmla="val 16667"/>
            </a:avLst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0488" y="12435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vérifications SSI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0488" y="1682496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PCA (41%) et Contractuel (48%) ont les taux de conformité les plus faibles. Prioriser la revue humaine sur ces blocs.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798064"/>
            <a:ext cx="27432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98064"/>
            <a:ext cx="27432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2907792"/>
            <a:ext cx="1371600" cy="274320"/>
          </a:xfrm>
          <a:prstGeom prst="rect">
            <a:avLst>
              <a:gd name="adj" fmla="val 1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" y="323697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Calibrer le seuil de confiance 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67588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cas critiques (déclaré conforme, expert non conforme). Abaisser le seuil d'alerte à 0.65 pour ces cas et forcer la revue experte.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798064"/>
            <a:ext cx="27432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798064"/>
            <a:ext cx="2743200" cy="54864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907792"/>
            <a:ext cx="1371600" cy="274320"/>
          </a:xfrm>
          <a:prstGeom prst="rect">
            <a:avLst>
              <a:gd name="adj" fmla="val 16667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0128" y="323697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les annotations expertes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0128" y="367588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43% des lignes ont un feedback expert. Sans ce ground truth, l'évaluation du modèle est incomplète. Viser 80% pour le prochain cycle.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798064"/>
            <a:ext cx="274320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798064"/>
            <a:ext cx="2743200" cy="5486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2907792"/>
            <a:ext cx="1371600" cy="274320"/>
          </a:xfrm>
          <a:prstGeom prst="rect">
            <a:avLst>
              <a:gd name="adj" fmla="val 16667"/>
            </a:avLst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0488" y="323697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récupération recall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0488" y="367588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bm25_hybrid recommandée en production. Tester hyde pour les exigences à fort écart lexical (ex: terminologie RGPD vs preuve contractuelle).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— Data Deep Dive  |  AXA France AI Factory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286000" y="2176272"/>
            <a:ext cx="4572000" cy="45720"/>
          </a:xfrm>
          <a:prstGeom prst="rect">
            <a:avLst/>
          </a:prstGeom>
          <a:solidFill>
            <a:srgbClr val="FF1721"/>
          </a:solidFill>
          <a:ln w="12700">
            <a:solidFill>
              <a:srgbClr val="FF17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AI4DueDil  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AXA France AI Factory  |  Nanterre  |  Mars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AI4DueDil — Data Deep Dive</dc:title>
  <dc:subject>Analyse conformité prestataires</dc:subject>
  <dc:creator>AXA France AI Factory</dc:creator>
  <cp:lastModifiedBy>AXA France AI Factory</cp:lastModifiedBy>
  <cp:revision>1</cp:revision>
  <dcterms:created xsi:type="dcterms:W3CDTF">2026-03-24T20:43:19Z</dcterms:created>
  <dcterms:modified xsi:type="dcterms:W3CDTF">2026-03-24T20:43:19Z</dcterms:modified>
</cp:coreProperties>
</file>